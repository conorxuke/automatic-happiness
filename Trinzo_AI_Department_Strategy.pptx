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</a:rPr>
              <a:t>TRINZO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Department Strategy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956816"/>
            <a:ext cx="38404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848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A4D4"/>
                </a:solidFill>
              </a:rPr>
              <a:t>Lead  ·  Convert  ·  Automate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633472"/>
            <a:ext cx="2697480" cy="21762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2761488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PILLAR 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30936" y="3035808"/>
            <a:ext cx="2441448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3145536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Marketing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Engine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55848" y="2633472"/>
            <a:ext cx="2697480" cy="217627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3864" y="2761488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PILLAR 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83864" y="3035808"/>
            <a:ext cx="2441448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3864" y="3145536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Adoption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Revenue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08776" y="2633472"/>
            <a:ext cx="2697480" cy="21762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2761488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PILLAR 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336792" y="3035808"/>
            <a:ext cx="2441448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3145536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 Office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Automation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FA5"/>
                </a:solidFill>
              </a:rPr>
              <a:t>Conor Flynn, Head of Innovation  ·  May 2026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52849"/>
          </a:solidFill>
          <a:ln w="12700">
            <a:solidFill>
              <a:srgbClr val="1528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the AI Department Is — and Why It Exists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 /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6E"/>
                </a:solidFill>
              </a:rPr>
              <a:t>The AI department has one overarching purpose: to make Trinzo the most visible, credible, and capable AI partner in the Life Sciences sector.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It does this through three interconnected pillars — each with a distinct role, but all pointing toward the same outcome: a business that grows in value, demonstrates its thinking publicly, and delivers measurable results for clients.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792224"/>
            <a:ext cx="2670048" cy="3090672"/>
          </a:xfrm>
          <a:prstGeom prst="rect">
            <a:avLst/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792224"/>
            <a:ext cx="2670048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85623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PILLAR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9496" y="2231136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Marketing Engine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9496" y="2670048"/>
            <a:ext cx="241401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Drive brand awareness, lead generation, and industry presence through a structured content and events programme — webinars, in-person events, podcasts, and social. Indirect revenue enabler.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792224"/>
            <a:ext cx="2670048" cy="3090672"/>
          </a:xfrm>
          <a:prstGeom prst="rect">
            <a:avLst/>
          </a:prstGeom>
          <a:solidFill>
            <a:srgbClr val="FEF0E0"/>
          </a:solidFill>
          <a:ln w="12700">
            <a:solidFill>
              <a:srgbClr val="E07B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792224"/>
            <a:ext cx="2670048" cy="34747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185623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PILLAR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74136" y="2231136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2A"/>
                </a:solidFill>
              </a:rPr>
              <a:t>AI Adoption Revenue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74136" y="2670048"/>
            <a:ext cx="241401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Generate direct revenue by helping Life Science companies adopt AI. Training, discovery, POC development, implementation, and ongoing adoption management. The 80% is the opportunity.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792224"/>
            <a:ext cx="2670048" cy="3090672"/>
          </a:xfrm>
          <a:prstGeom prst="rect">
            <a:avLst/>
          </a:prstGeom>
          <a:solidFill>
            <a:srgbClr val="EDE8F5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792224"/>
            <a:ext cx="2670048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85623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PILLAR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08776" y="2231136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</a:rPr>
              <a:t>Back Office Automation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08776" y="2670048"/>
            <a:ext cx="241401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Build bespoke AI tools and agents that allow fewer back office staff to run a larger business. Internal efficiency first — then productised and sold to clients.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Pillar 1  —  Marketing Engine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3 /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The Content Flywheel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969264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One live event generates a full month of content. The AI team has already proven it can produce and host high-quality webinars and events. With a dedicated content person — sitting outside the AI team but working closely with it — that output gets systematically converted into: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883664"/>
            <a:ext cx="2743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83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58952" y="19110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Webinar / Live event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" y="2176272"/>
            <a:ext cx="54864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322576"/>
            <a:ext cx="2743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2350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Podcast episode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208" y="2615184"/>
            <a:ext cx="54864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761488"/>
            <a:ext cx="2743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8952" y="2788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YouTube video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1208" y="3054096"/>
            <a:ext cx="54864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200400"/>
            <a:ext cx="2743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8952" y="32278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8–10 social clips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1208" y="3493008"/>
            <a:ext cx="54864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639312"/>
            <a:ext cx="2743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8952" y="3666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LinkedIn article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1208" y="3931920"/>
            <a:ext cx="54864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078224"/>
            <a:ext cx="2743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8952" y="41056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Email newsletter &amp; follow-up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566928"/>
            <a:ext cx="4023360" cy="4343400"/>
          </a:xfrm>
          <a:prstGeom prst="rect">
            <a:avLst/>
          </a:prstGeom>
          <a:solidFill>
            <a:srgbClr val="E0F4F6"/>
          </a:solidFill>
          <a:ln w="12700">
            <a:solidFill>
              <a:srgbClr val="B2DF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713232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Webinar Series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19472" y="1152144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10972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AI in Life Sciences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38928" y="13350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Current — proven, continue and expand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19472" y="1627632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38928" y="15727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Q&amp;R Case Studies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38928" y="18105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What we've done — structured client stories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919472" y="2103120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38928" y="20482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War Stories with Leaders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38928" y="22860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Senior QARA voices on what they've learned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19472" y="2578608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38928" y="25237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Regulation Watch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38928" y="27614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Monthly regulatory landscape update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919472" y="3054096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38928" y="29992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The Inspection Files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38928" y="32369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Real audit and inspection stories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919472" y="3529584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38928" y="34747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Training &amp; Adoption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38928" y="37124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How to train people to work with AI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54880" y="4041648"/>
            <a:ext cx="402336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19472" y="4114800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In-Person Events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919472" y="4334256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Monthly at Trinzo office  ·  Charged (single company) or Free (mixed group)  ·  Lead generation + brand building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Pillar 2  —  AI Adoption Revenue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4 /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2A"/>
                </a:solidFill>
              </a:rPr>
              <a:t>The 80/10/10 Model — Our Intellectual Anchor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1463040" cy="47548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" y="98755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10%  Fully Automated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" y="1517904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Tasks AI handles end-to-end. Not our focus.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38528" y="987552"/>
            <a:ext cx="5029200" cy="47548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3392" y="987552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80%  Human + 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93392" y="1517904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Where we operate. People working better with machines — the methodology to be developed.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031736" y="987552"/>
            <a:ext cx="1463040" cy="47548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98755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10%  Human Only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86600" y="1517904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Judgment that cannot be automated.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0848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Service Lines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450592"/>
            <a:ext cx="1627632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450592"/>
            <a:ext cx="1627632" cy="329184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0545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87121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B2A"/>
                </a:solidFill>
              </a:rPr>
              <a:t>€30K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" y="3401568"/>
            <a:ext cx="1444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Bespoke AI training for teams. Scalable — a large company needs many.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30552" y="2450592"/>
            <a:ext cx="1627632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130552" y="2450592"/>
            <a:ext cx="1627632" cy="329184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21992" y="250545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Discovery Workshop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21992" y="287121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B2A"/>
                </a:solidFill>
              </a:rPr>
              <a:t>€30K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221992" y="3401568"/>
            <a:ext cx="1444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3-day intensive. Maps the 80/10/10 split for the client's own workflows.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9624" y="2450592"/>
            <a:ext cx="1627632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9624" y="2450592"/>
            <a:ext cx="1627632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41064" y="250545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POC Factory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41064" y="287121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€200K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941064" y="3401568"/>
            <a:ext cx="1444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Multiple POCs, full AI roadmap, workflows mapped, initial tools to test.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68696" y="2450592"/>
            <a:ext cx="1627632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68696" y="2450592"/>
            <a:ext cx="1627632" cy="329184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0136" y="250545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Partner Implementation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0136" y="287121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6E"/>
                </a:solidFill>
              </a:rPr>
              <a:t>€200–300K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660136" y="3401568"/>
            <a:ext cx="1444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Technical delivery of the chosen solution — with adoption built in from day one.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87768" y="2450592"/>
            <a:ext cx="1627632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87768" y="2450592"/>
            <a:ext cx="1627632" cy="32918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79208" y="250545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Adoption Management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79208" y="287121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F46"/>
                </a:solidFill>
              </a:rPr>
              <a:t>€30K / tranche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379208" y="3401568"/>
            <a:ext cx="1444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Ongoing adoption support. Up to 10 engagements running concurrently.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Pillar 3  —  Back Office Automation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5 /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</a:rPr>
              <a:t>The idea is simple.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Build AI tools and automation that allow fewer back office staff to run a significantly larger business. Adeline leads the build. The AI department defines the use cases.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This starts as an internal efficiency play. Over time, it becomes a product — and a live proof of concept for the AI adoption methodology we sell to clients.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7249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Three agents in development: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3054096"/>
            <a:ext cx="329184" cy="32918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0723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Admin &amp; Scheduling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2735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Automates calendar, coordination, and admin workflows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3675888"/>
            <a:ext cx="329184" cy="32918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6941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Content &amp; Marketing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389534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Drafts, schedules, and distributes content across channels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4297680"/>
            <a:ext cx="329184" cy="32918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3159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Reporting &amp; Analytics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45171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Generates RAG status reports, project dashboards, KPI summaries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566928"/>
            <a:ext cx="4114800" cy="4343400"/>
          </a:xfrm>
          <a:prstGeom prst="rect">
            <a:avLst/>
          </a:prstGeom>
          <a:solidFill>
            <a:srgbClr val="EDE8F5"/>
          </a:solidFill>
          <a:ln w="12700">
            <a:solidFill>
              <a:srgbClr val="C4B5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713232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</a:rPr>
              <a:t>From Internal Tool to Product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28032" y="1115568"/>
            <a:ext cx="749808" cy="74980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115568"/>
            <a:ext cx="74980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Stage 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650992" y="115214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Internal Build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50992" y="1426464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Adeline builds agents for Trinzo's own back office. Admin, content, reporting.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28032" y="2029968"/>
            <a:ext cx="749808" cy="74980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029968"/>
            <a:ext cx="74980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Stage 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650992" y="206654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Proof of Concept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50992" y="2340864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Trinzo runs on its own automation. Real evidence of what's possible — and what's hard.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28032" y="2944368"/>
            <a:ext cx="749808" cy="74980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944368"/>
            <a:ext cx="74980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Stage 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650992" y="298094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Case Study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50992" y="3255264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Every internal tool is a potential client story. We are the first client of our own methodology.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28032" y="3858768"/>
            <a:ext cx="749808" cy="74980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858768"/>
            <a:ext cx="74980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Stage 4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650992" y="389534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Productise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50992" y="4169664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Package the most replicable tools as products. Sell or license to Life Science clients as part of adoption engagements.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2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3F66"/>
          </a:solidFill>
          <a:ln w="12700">
            <a:solidFill>
              <a:srgbClr val="2A3F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The Enterprise Ireland Grant  —  Strategic Enabler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6 /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The EI R&amp;D grant does not sit beside the strategy. It runs through all three pillars — funding the work that makes each one stronger.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697480" cy="3657600"/>
          </a:xfrm>
          <a:prstGeom prst="rect">
            <a:avLst/>
          </a:prstGeom>
          <a:solidFill>
            <a:srgbClr val="2A3F6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70432"/>
            <a:ext cx="26974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243584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PILLAR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39496" y="1627632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Marketing Device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9496" y="2121408"/>
            <a:ext cx="2441448" cy="228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2249424"/>
            <a:ext cx="244144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The EI-funded research programme positions Trinzo as a leading thinker in AI for Life Sciences. Publishing findings, presenting at events, and contributing to the regulatory conversation is free marketing with genuine credibility.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64408" y="1170432"/>
            <a:ext cx="2697480" cy="3657600"/>
          </a:xfrm>
          <a:prstGeom prst="rect">
            <a:avLst/>
          </a:prstGeom>
          <a:solidFill>
            <a:srgbClr val="2A3F66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170432"/>
            <a:ext cx="2697480" cy="34747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2424" y="1243584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PILLAR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92424" y="1627632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2A"/>
                </a:solidFill>
              </a:rPr>
              <a:t>Delivery Capacity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92424" y="2121408"/>
            <a:ext cx="2441448" cy="228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2424" y="2249424"/>
            <a:ext cx="244144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The grant funds the technical contractor bench — AI/ML Engineer, KG Specialist, Regulatory SME. This builds internal expertise that directly supports client adoption engagements. We deliver more, and we deliver better.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17336" y="1170432"/>
            <a:ext cx="2697480" cy="3657600"/>
          </a:xfrm>
          <a:prstGeom prst="rect">
            <a:avLst/>
          </a:prstGeom>
          <a:solidFill>
            <a:srgbClr val="2A3F66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17336" y="1170432"/>
            <a:ext cx="2697480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1243584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PILLAR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45352" y="1627632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D8E"/>
                </a:solidFill>
              </a:rPr>
              <a:t>Product Creation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45352" y="2121408"/>
            <a:ext cx="2441448" cy="228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2249424"/>
            <a:ext cx="244144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ARIA, LUCE, and the Audit Assistant are the seeds of a product. The grant funds the R&amp;D. The back office automation pillar turns the outputs into something productisable. This is the exit story.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FA5"/>
                </a:solidFill>
              </a:rPr>
              <a:t>Note: EI grant outcome still pending. Strategy is designed to work without it — and to accelerate significantly if awarded.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The Revenue Opportunity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7 /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6E"/>
                </a:solidFill>
              </a:rPr>
              <a:t>Pillar 2 alone represents a significant commercial model — at scale.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8321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05840"/>
            <a:ext cx="201168" cy="603504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1155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Training courses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1115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€30K each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0" y="11155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5 per year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89520" y="10972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7B2A"/>
                </a:solidFill>
              </a:rPr>
              <a:t>€150K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1682496"/>
            <a:ext cx="8321040" cy="603504"/>
          </a:xfrm>
          <a:prstGeom prst="rect">
            <a:avLst/>
          </a:prstGeom>
          <a:solidFill>
            <a:srgbClr val="E8E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682496"/>
            <a:ext cx="201168" cy="603504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17922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Discovery workshops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17922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€30K each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0" y="1792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6 per year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89520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7B2A"/>
                </a:solidFill>
              </a:rPr>
              <a:t>€180K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2359152"/>
            <a:ext cx="8321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359152"/>
            <a:ext cx="201168" cy="6035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24688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POC Factory engagements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0" y="2468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€200K each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24688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2 per year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89520" y="245059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€400K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3035808"/>
            <a:ext cx="8321040" cy="603504"/>
          </a:xfrm>
          <a:prstGeom prst="rect">
            <a:avLst/>
          </a:prstGeom>
          <a:solidFill>
            <a:srgbClr val="E8E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035808"/>
            <a:ext cx="201168" cy="603504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14553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Partner implementations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0" y="31455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€200–300K each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31455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2 per year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589520" y="312724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A6E"/>
                </a:solidFill>
              </a:rPr>
              <a:t>€500K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1480" y="3712464"/>
            <a:ext cx="8321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712464"/>
            <a:ext cx="201168" cy="60350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38221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Adoption management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97680" y="3822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€30K per tranche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17920" y="38221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10 concurrent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589520" y="380390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€300K+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11480" y="4443984"/>
            <a:ext cx="8321040" cy="47548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444398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Illustrative annual revenue — Pillar 2 only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49440" y="444398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€1.5M+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11480" y="498348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Pillar 1 drives the pipeline. Pillar 3 reduces the cost base. The three pillars compound.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3F66"/>
          </a:solidFill>
          <a:ln w="12700">
            <a:solidFill>
              <a:srgbClr val="2A3F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We Need to Decide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8 /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The direction is clear. Four decisions will determine how fast we get there.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041648" cy="1737360"/>
          </a:xfrm>
          <a:prstGeom prst="rect">
            <a:avLst/>
          </a:prstGeom>
          <a:solidFill>
            <a:srgbClr val="2A3F66"/>
          </a:solidFill>
          <a:ln w="12700">
            <a:solidFill>
              <a:srgbClr val="3A5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24358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B2A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9848" y="128016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content person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69848" y="1682496"/>
            <a:ext cx="146304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1682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PILLAR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57784" y="202996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Who do we hire, when, and where do they sit? This person unlocks Pillar 1 at scale. Without them, the flywheel stays manual and sporadic.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115568"/>
            <a:ext cx="4041648" cy="1737360"/>
          </a:xfrm>
          <a:prstGeom prst="rect">
            <a:avLst/>
          </a:prstGeom>
          <a:solidFill>
            <a:srgbClr val="2A3F66"/>
          </a:solidFill>
          <a:ln w="12700">
            <a:solidFill>
              <a:srgbClr val="3A5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124358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B2A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67528" y="128016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80/10/10 methodology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67528" y="1682496"/>
            <a:ext cx="1463040" cy="27432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67528" y="1682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PILLAR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55464" y="202996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This needs to be written down, named, and packaged before we can sell it consistently. Who owns this, and what's the timeline to a first draft?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999232"/>
            <a:ext cx="4041648" cy="1737360"/>
          </a:xfrm>
          <a:prstGeom prst="rect">
            <a:avLst/>
          </a:prstGeom>
          <a:solidFill>
            <a:srgbClr val="2A3F66"/>
          </a:solidFill>
          <a:ln w="12700">
            <a:solidFill>
              <a:srgbClr val="3A5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" y="31272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B2A"/>
                </a:solidFill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69848" y="316382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product roadmap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69848" y="3566160"/>
            <a:ext cx="1463040" cy="2743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3566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PILLAR 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57784" y="391363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What does Adeline build next, and how do we start capturing what she builds as IP? The automation pillar only becomes a product if we treat it like one from the start.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999232"/>
            <a:ext cx="4041648" cy="1737360"/>
          </a:xfrm>
          <a:prstGeom prst="rect">
            <a:avLst/>
          </a:prstGeom>
          <a:solidFill>
            <a:srgbClr val="2A3F66"/>
          </a:solidFill>
          <a:ln w="12700">
            <a:solidFill>
              <a:srgbClr val="3A5A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5464" y="31272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B2A"/>
                </a:solidFill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67528" y="316382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EI grant stance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67528" y="3566160"/>
            <a:ext cx="1463040" cy="27432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67528" y="3566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EI GRANT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55464" y="391363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If awarded, how quickly do we activate? The grant accelerates all three pillars but requires a resourcing decision the moment it lands.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FA5"/>
                </a:solidFill>
              </a:rPr>
              <a:t>Conor Flynn, Head of Innovation  ·  May 2026  ·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2026-05-28T09:21:58Z</dcterms:created>
  <dcterms:modified xsi:type="dcterms:W3CDTF">2026-05-28T09:21:58Z</dcterms:modified>
</cp:coreProperties>
</file>