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44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16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TRINZO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114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 ·  Convert  ·  Automate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for the Head of Sales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pillars. One engine.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has a distinct role. All compound toward the same outcome.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Brand, credibility, pipeline.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 · Webinars · Events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822960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51760" cy="338328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revenue from Life Science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adoption engagements.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4434840"/>
            <a:ext cx="822960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51760" cy="338328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AI engines. One dashboard.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Fewer overhead. More billable.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434840"/>
            <a:ext cx="822960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434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department is financed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Almost all AI department activity qualifies as R&amp;D. It doesn't cost what it appears to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3840480" cy="347472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TAX CREDITS — ACTIVE AUG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16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65–70c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the dollar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ReadyWatch documents all qualifying activity.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begins August 2026.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25880"/>
            <a:ext cx="3840480" cy="347472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RD&amp;I GRANT — €2.1M · DECISION END OF JUNE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30–40c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47091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the dollar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awarded — 4-year GxP Agentic AI Framework.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funds the technical contractor bench.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14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F3620"/>
          </a:solidFill>
          <a:ln w="12700">
            <a:solidFill>
              <a:srgbClr val="8F36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6800" dirty="0"/>
          </a:p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1148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brand, credibility, and pipeline at scale.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event. A month of content.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194560" cy="35661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Recorded. Transcribed.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Ready to repurpose.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834640"/>
            <a:ext cx="457200" cy="0"/>
          </a:xfrm>
          <a:prstGeom prst="line">
            <a:avLst/>
          </a:prstGeom>
          <a:noFill/>
          <a:ln w="25400">
            <a:solidFill>
              <a:srgbClr val="B14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14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recording, searchable, compounds over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5156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53912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8–10 short-form clips per event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22402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24028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article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6432" y="2670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thought leadership piece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22402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224028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53912" y="2670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Distributed to the Trinzo subscriber list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34290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42900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56432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Audio-first format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4290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429000"/>
            <a:ext cx="64008" cy="10515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collateral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Client-ready material from every session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QA and RA: Practical Adoption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5-part series · March–May 2026 · All recorded on YouTube · Clips on LinkedIn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8321040" cy="658368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43000"/>
            <a:ext cx="502920" cy="65836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430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978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Resetting How Teams Think About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4721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Governed, structured adoption for GxP environments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307592"/>
            <a:ext cx="64008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307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1307592"/>
            <a:ext cx="137160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307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9280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892808"/>
            <a:ext cx="502920" cy="65836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92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1947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Place to Start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2219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Low-risk entry points — live Adhesive Deviation demo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057400"/>
            <a:ext cx="64008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0574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2057400"/>
            <a:ext cx="137160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2057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642616"/>
            <a:ext cx="8321040" cy="658368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642616"/>
            <a:ext cx="502920" cy="65836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426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2697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Workflow-Level AI Solution Looks Like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2971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NovaCura multi-agent complaint handling demo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807208"/>
            <a:ext cx="64008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8072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807208"/>
            <a:ext cx="137160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807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339242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392424"/>
            <a:ext cx="502920" cy="65836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924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3447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and Responsible AI Use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5840" y="37216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Regulatory expectations and governance models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3557016"/>
            <a:ext cx="64008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5570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23760" y="3557016"/>
            <a:ext cx="137160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557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142232"/>
            <a:ext cx="8321040" cy="658368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4142232"/>
            <a:ext cx="502920" cy="65836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1422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5840" y="4197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AI Stick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05840" y="4471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Sustainable adoption aligned with compliance and culture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4306824"/>
            <a:ext cx="64008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3068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4306824"/>
            <a:ext cx="1371600" cy="237744"/>
          </a:xfrm>
          <a:prstGeom prst="rect">
            <a:avLst/>
          </a:prstGeom>
          <a:solidFill>
            <a:srgbClr val="EAF4EA"/>
          </a:solidFill>
          <a:ln w="12700">
            <a:solidFill>
              <a:srgbClr val="C3DFC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306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clips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Delivered by: Conor Flynn (AI) · Colm O'Rourke (QA/RA) · Jack Cunningham (Lean) · Kathryn Cullen (Change)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live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690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069080" cy="365760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EVENTS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14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done.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from here.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3657600" cy="0"/>
          </a:xfrm>
          <a:prstGeom prst="line">
            <a:avLst/>
          </a:prstGeom>
          <a:noFill/>
          <a:ln w="12700">
            <a:solidFill>
              <a:srgbClr val="E5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 workshops with Medtronic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 the format that works.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 to other clients.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14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resource to own and drive this.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FROM FIRST EVENT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3560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35608"/>
            <a:ext cx="109728" cy="50292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72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1545336"/>
            <a:ext cx="1463040" cy="228600"/>
          </a:xfrm>
          <a:prstGeom prst="rect">
            <a:avLst/>
          </a:prstGeom>
          <a:solidFill>
            <a:srgbClr val="D0E8E4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5453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advancing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02996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029968"/>
            <a:ext cx="109728" cy="50292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Wave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2139696"/>
            <a:ext cx="1463040" cy="228600"/>
          </a:xfrm>
          <a:prstGeom prst="rect">
            <a:avLst/>
          </a:prstGeom>
          <a:solidFill>
            <a:srgbClr val="D0E8E4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opened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62432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624328"/>
            <a:ext cx="109728" cy="502920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60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Medical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0" y="2734056"/>
            <a:ext cx="1463040" cy="22860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7340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— follow up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1868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218688"/>
            <a:ext cx="109728" cy="502920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55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Dexcom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3328416"/>
            <a:ext cx="1463040" cy="22860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33284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— follow 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6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F4A70"/>
          </a:solidFill>
          <a:ln w="12700">
            <a:solidFill>
              <a:srgbClr val="0F4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6800" dirty="0"/>
          </a:p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1148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revenue from Life Science AI adoption engagements.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80/10/10 Model — the intellectual anchor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Trinzo builds is framed around where the real value 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14600" cy="3520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Rule-bound tasks. AI handles end-to-end. Real savings — not where the value 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234440"/>
            <a:ext cx="3246120" cy="352044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417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10896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7432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drafts. Human judges and approves. Faster, more thorough than either alone. This is Trinzo's territory.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2514600" cy="35204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417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judgment. Regulatory sign-offs. Cannot and should not be automated.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we sell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97480" cy="3794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" y="242316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Regulatory AI training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Readiness Assessments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3209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GxP governance workshops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3557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engagements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4343400"/>
            <a:ext cx="23774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Olympus  ·  GSK  ·  Integer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960120"/>
            <a:ext cx="2697480" cy="379476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643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56432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Tools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Ecosystem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56432" y="242316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 Teams / SharePoint / Copilot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new platforms or IT overhead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3209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 generation agents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3557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Complaint handling workflows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6432" y="4343400"/>
            <a:ext cx="23774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Medtronic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960120"/>
            <a:ext cx="2697480" cy="379476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679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36792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36792" y="2423160"/>
            <a:ext cx="23774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myqms.ai — AI-native eQMS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36792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Meddevo — med device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3209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Trinzo as implementation partner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36792" y="4343400"/>
            <a:ext cx="23774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myqms.ai  ·  Meddevo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3524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delivered projects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069080" cy="18288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069080" cy="347472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96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Medtronic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014984"/>
            <a:ext cx="1097280" cy="22860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149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Tools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18-tool DHF suite built inside Teams / SharePoint / Copilot. 8 analysis tools + 10 document agents. JSON data payload is the long-term IP asset.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4069080" cy="18288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60120"/>
            <a:ext cx="4069080" cy="347472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96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1014984"/>
            <a:ext cx="1097280" cy="22860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0149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GxP AI adoption engagement. Phase 0 Discovery (3 weeks) → workflow redesign → training. The CAPA case study is the door opener.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4069080" cy="18288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71800"/>
            <a:ext cx="4069080" cy="347472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026664"/>
            <a:ext cx="1097280" cy="22860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0266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FDA Medical Device Regulatory Training. All-Employee Deck + QA/RA Deep-Dive + Assessment question bank. Expert interview → Draft → Final.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71800"/>
            <a:ext cx="4069080" cy="18288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971800"/>
            <a:ext cx="40690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3026664"/>
            <a:ext cx="1097280" cy="22860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0266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29000"/>
            <a:ext cx="3794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Discovery Workshop for complaint handling. Mapped AI-ready workflows and governance requirements for a major contract manufacturer.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43D38"/>
          </a:solidFill>
          <a:ln w="12700">
            <a:solidFill>
              <a:srgbClr val="143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Fewer back-office people running more. Frees headcount for client-facing, billable roles.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engines. One dashboard.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each engine once. Configure it for any back-office need. Same architecture as the Medtronic programme.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approval queues · workflow triggers · RAG reports · provenance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965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74520"/>
            <a:ext cx="1965960" cy="384048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Unstructured → structured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Transcript → 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Webinar → insights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Asana data →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1874520"/>
            <a:ext cx="1965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874520"/>
            <a:ext cx="1965960" cy="384048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874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→ first draft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RAG status reports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291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SOPs &amp; R&amp;D evidence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767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drafts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874520"/>
            <a:ext cx="1965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874520"/>
            <a:ext cx="1965960" cy="38404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74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 vs. a ruleset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SLA timeline checks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291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EI compliance gaps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767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Cross-doc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1874520"/>
            <a:ext cx="1965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1874520"/>
            <a:ext cx="196596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874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 from a library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SOP / policy Q&amp;A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Standards lookups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3767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Cited answers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544568"/>
            <a:ext cx="8321040" cy="292608"/>
          </a:xfrm>
          <a:prstGeom prst="rect">
            <a:avLst/>
          </a:prstGeom>
          <a:solidFill>
            <a:srgbClr val="E5EBF0"/>
          </a:solidFill>
          <a:ln w="12700">
            <a:solidFill>
              <a:srgbClr val="E5E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544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SCHEMA  ·  Supabase (live) → SharePoint (archive)  ·  Sources: Teams · SharePoint · Asana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423160" cy="36576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423160" cy="3474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Back-office tasks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 dedicated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to run them.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hire: back-office.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566160" y="1005840"/>
            <a:ext cx="2423160" cy="3657600"/>
          </a:xfrm>
          <a:prstGeom prst="rect">
            <a:avLst/>
          </a:prstGeom>
          <a:solidFill>
            <a:srgbClr val="F5F8FB"/>
          </a:solidFill>
          <a:ln w="12700">
            <a:solidFill>
              <a:srgbClr val="E5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005840"/>
            <a:ext cx="2423160" cy="347472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PILLAR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508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engines handle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80%. A few people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and approve.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back-office team.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2011680" cy="3657600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hire is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grows.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Overhead stays flat.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931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the same architecture as Medtronic DHF.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57200" cy="56692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the events and content resource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flywheel runs at partial capacity without an owner.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52144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521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14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664208"/>
            <a:ext cx="457200" cy="566928"/>
          </a:xfrm>
          <a:prstGeom prst="rect">
            <a:avLst/>
          </a:prstGeom>
          <a:solidFill>
            <a:srgbClr val="B1462A"/>
          </a:solidFill>
          <a:ln w="12700">
            <a:solidFill>
              <a:srgbClr val="B14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642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1709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events pipeline — now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Merit Medical and Dexcom are warm. 30-day window.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810512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10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14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22576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22576"/>
            <a:ext cx="457200" cy="566928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225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368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client workshop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6243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Medtronic format works. More clients, more often.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468880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4688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Workshops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80944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980944"/>
            <a:ext cx="457200" cy="566928"/>
          </a:xfrm>
          <a:prstGeom prst="rect">
            <a:avLst/>
          </a:prstGeom>
          <a:solidFill>
            <a:srgbClr val="166A9A"/>
          </a:solidFill>
          <a:ln w="12700">
            <a:solidFill>
              <a:srgbClr val="166A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809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026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partner implementation 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2826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myqms.ai and Meddevo are a real revenue stream.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127248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272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Partners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39312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639312"/>
            <a:ext cx="457200" cy="566928"/>
          </a:xfrm>
          <a:prstGeom prst="rect">
            <a:avLst/>
          </a:prstGeom>
          <a:solidFill>
            <a:srgbClr val="1F5A52"/>
          </a:solidFill>
          <a:ln w="12700">
            <a:solidFill>
              <a:srgbClr val="1F5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639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the four engines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39410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Pillar 3 is running, the next hire is billable.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785616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7856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Engines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297680"/>
            <a:ext cx="8321040" cy="566928"/>
          </a:xfrm>
          <a:prstGeom prst="rect">
            <a:avLst/>
          </a:prstGeom>
          <a:solidFill>
            <a:srgbClr val="222540"/>
          </a:solidFill>
          <a:ln w="12700">
            <a:solidFill>
              <a:srgbClr val="2D3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297680"/>
            <a:ext cx="457200" cy="566928"/>
          </a:xfrm>
          <a:prstGeom prst="rect">
            <a:avLst/>
          </a:prstGeom>
          <a:solidFill>
            <a:srgbClr val="8BAFC8"/>
          </a:solidFill>
          <a:ln w="12700">
            <a:solidFill>
              <a:srgbClr val="8BAF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297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58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EI grant — decision end of June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5840" y="45994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grant award changes the cost model and resourcing plan.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4443984"/>
            <a:ext cx="2423160" cy="237744"/>
          </a:xfrm>
          <a:prstGeom prst="rect">
            <a:avLst/>
          </a:prstGeom>
          <a:solidFill>
            <a:srgbClr val="2D3060"/>
          </a:solidFill>
          <a:ln w="12700">
            <a:solidFill>
              <a:srgbClr val="3A3E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4439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Grant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1078</Words>
  <Application>Microsoft Macintosh PowerPoint</Application>
  <PresentationFormat>On-screen Show (16:9)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Trinzo AI Department</dc:title>
  <dc:subject>PptxGenJS Presentation</dc:subject>
  <dc:creator>PptxGenJS</dc:creator>
  <cp:lastModifiedBy>Conor Flynn</cp:lastModifiedBy>
  <cp:revision>1</cp:revision>
  <dcterms:created xsi:type="dcterms:W3CDTF">2026-06-10T10:04:24Z</dcterms:created>
  <dcterms:modified xsi:type="dcterms:W3CDTF">2026-06-10T10:06:39Z</dcterms:modified>
</cp:coreProperties>
</file>