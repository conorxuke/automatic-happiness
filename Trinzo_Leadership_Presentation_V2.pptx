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72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180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0" dirty="0">
                <a:solidFill>
                  <a:srgbClr val="FFFFFF"/>
                </a:solidFill>
              </a:rPr>
              <a:t>TRINZO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</a:rPr>
              <a:t>Three futures. One decision.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4D4"/>
                </a:solidFill>
              </a:rPr>
              <a:t>Leadership Working Session  ·  May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2697480" cy="2286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61518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0936" y="2907792"/>
            <a:ext cx="244144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175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Lean &amp; Profitable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" y="3566160"/>
            <a:ext cx="244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A smaller, simpler business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you fully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2487168"/>
            <a:ext cx="2697480" cy="2286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261518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907792"/>
            <a:ext cx="244144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30175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Rebuild the Team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83864" y="3566160"/>
            <a:ext cx="244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Hire back to previous shape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and fight for growth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2487168"/>
            <a:ext cx="2697480" cy="22860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61518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36792" y="2907792"/>
            <a:ext cx="244144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0175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Transformation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36792" y="3566160"/>
            <a:ext cx="2441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A differentiated business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1E0F5"/>
                </a:solidFill>
              </a:rPr>
              <a:t>with a real exit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864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6FA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Where We Stand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 /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594360"/>
            <a:ext cx="192024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685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€6–7M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2026 Revenue Forecast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594360"/>
            <a:ext cx="192024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685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~€12M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87752" y="1188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Current Valuation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594360"/>
            <a:ext cx="19202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685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~40%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90872" y="1188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Billable FTEs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594360"/>
            <a:ext cx="192024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93992" y="685800"/>
            <a:ext cx="1773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93992" y="1188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People Lost in 12 Months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664208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1664208"/>
            <a:ext cx="2670048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1719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● AMBER  —  SALES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" y="2121408"/>
            <a:ext cx="24505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Revenue on track; margin ahead of target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New Head of Sales joins — arrives with no onboarding support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Kate is the only internal sales support remaining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664208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64208"/>
            <a:ext cx="2670048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719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● RED  —  PEOPLE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2121408"/>
            <a:ext cx="24505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7+ departures in 12 months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Only 40% of FTEs are billable today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50%+ of remaining team at flight risk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Ciara Griffin departing — transition plan live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664208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664208"/>
            <a:ext cx="267004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7190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● UNCLEAR  —  CLIENT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121408"/>
            <a:ext cx="24505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Clients enthusiastic about AI — but engaging for free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Extensions increasing but not consistently invoiced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No shared definition of what 'delight' means commercially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w="12700" cap="flat" cmpd="sng">
            <a:solidFill>
              <a:srgbClr val="1F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Team: The Real Picture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11480" y="621792"/>
            <a:ext cx="1920240" cy="749808"/>
          </a:xfrm>
          <a:prstGeom prst="rect">
            <a:avLst/>
          </a:prstGeom>
          <a:solidFill>
            <a:srgbClr val="1F3A6E"/>
          </a:solidFill>
          <a:ln w="12700" cap="flat" cmpd="sng">
            <a:solidFill>
              <a:srgbClr val="1F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7548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548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FTEs (incl. incoming HoS)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514600" y="621792"/>
            <a:ext cx="1920240" cy="749808"/>
          </a:xfrm>
          <a:prstGeom prst="rect">
            <a:avLst/>
          </a:prstGeom>
          <a:solidFill>
            <a:srgbClr val="1F3A6E"/>
          </a:solidFill>
          <a:ln w="12700" cap="flat" cmpd="sng">
            <a:solidFill>
              <a:srgbClr val="1F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257860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 /  40%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57860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Currently Billable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17720" y="621792"/>
            <a:ext cx="1920240" cy="749808"/>
          </a:xfrm>
          <a:prstGeom prst="rect">
            <a:avLst/>
          </a:prstGeom>
          <a:solidFill>
            <a:srgbClr val="1F3A6E"/>
          </a:solidFill>
          <a:ln w="12700" cap="flat" cmpd="sng">
            <a:solidFill>
              <a:srgbClr val="1F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68172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50%+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68172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At Flight Risk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720840" y="621792"/>
            <a:ext cx="1920240" cy="749808"/>
          </a:xfrm>
          <a:prstGeom prst="rect">
            <a:avLst/>
          </a:prstGeom>
          <a:solidFill>
            <a:srgbClr val="1F3A6E"/>
          </a:solidFill>
          <a:ln w="12700" cap="flat" cmpd="sng">
            <a:solidFill>
              <a:srgbClr val="1F3A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784848" y="649224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10–30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784848" y="1051560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Active Contractors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11480" y="1490472"/>
            <a:ext cx="155448" cy="15544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3093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Billable — stable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514600" y="1490472"/>
            <a:ext cx="155448" cy="15544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73405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Billable — flight risk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617720" y="1490472"/>
            <a:ext cx="155448" cy="155448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83717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Non-billable — flight risk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720840" y="1490472"/>
            <a:ext cx="155448" cy="155448"/>
          </a:xfrm>
          <a:prstGeom prst="rect">
            <a:avLst/>
          </a:prstGeom>
          <a:solidFill>
            <a:srgbClr val="2D5AA0"/>
          </a:solidFill>
          <a:ln w="12700" cap="flat" cmpd="sng">
            <a:solidFill>
              <a:srgbClr val="2D5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940296" y="1481328"/>
            <a:ext cx="17373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New / joining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17922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BILLABLE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11480" y="2011680"/>
            <a:ext cx="1572768" cy="457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75488" y="20482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Liam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75488" y="22585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11480" y="2523744"/>
            <a:ext cx="1572768" cy="457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75488" y="25603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5488" y="2770632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of Innovation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11480" y="3035808"/>
            <a:ext cx="1572768" cy="4572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75488" y="3072384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Kathryn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5488" y="3282696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084832" y="2011680"/>
            <a:ext cx="1572768" cy="4572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148840" y="20482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Jacqui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148840" y="22585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084832" y="2523744"/>
            <a:ext cx="1572768" cy="4572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2148840" y="2560320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Marissa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148840" y="2770632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Delivery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084832" y="3035808"/>
            <a:ext cx="1572768" cy="45720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148840" y="3072384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148840" y="3282696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Margin Improvement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886200" y="17922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RECENTLY DEPARTED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886200" y="2011680"/>
            <a:ext cx="1572768" cy="457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950208" y="2029968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Sales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50208" y="2258568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886200" y="2523744"/>
            <a:ext cx="1572768" cy="457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950208" y="254203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Finance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950208" y="2770632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86200" y="3035808"/>
            <a:ext cx="1572768" cy="457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950208" y="3054096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Head of MI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950208" y="3282696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605272" y="2011680"/>
            <a:ext cx="1572768" cy="457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669280" y="2029968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MI Assistant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669280" y="2258568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departed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605272" y="2523744"/>
            <a:ext cx="1572768" cy="457200"/>
          </a:xfrm>
          <a:prstGeom prst="rect">
            <a:avLst/>
          </a:prstGeom>
          <a:solidFill>
            <a:srgbClr val="FEE2E2"/>
          </a:solidFill>
          <a:ln w="12700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669280" y="254203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Sales Ops (Ciara)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669280" y="2770632"/>
            <a:ext cx="144475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leaving in 6 wks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11480" y="362102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NON-BILLABLE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11480" y="3840480"/>
            <a:ext cx="1572768" cy="457200"/>
          </a:xfrm>
          <a:prstGeom prst="rect">
            <a:avLst/>
          </a:prstGeom>
          <a:solidFill>
            <a:srgbClr val="2D5AA0"/>
          </a:solidFill>
          <a:ln w="12700" cap="flat" cmpd="sng">
            <a:solidFill>
              <a:srgbClr val="2D5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5488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HoS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5488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636776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700784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700784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862072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926080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Hannah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926080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087368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151376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151376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&amp; Ops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312664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376672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76672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537960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601968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Catriona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601968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763256" y="3840480"/>
            <a:ext cx="1572768" cy="45720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827264" y="3877056"/>
            <a:ext cx="1444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 F.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827264" y="4087368"/>
            <a:ext cx="1444752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Valuation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</a:rPr>
              <a:t>The ambition is clear.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Trinzo is currently valued at approximately €12 million. The target is €40 million within three to four years.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That is a 3× increase. No option gets there by accident — each path implies a very different business by 2029.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658368"/>
            <a:ext cx="4572000" cy="12984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06824" y="749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</a:rPr>
              <a:t>OPTION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6824" y="1042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€15–20M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06824" y="1627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2029 Valuation Projection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20840" y="978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Profitable. Controlled. Predictable.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2103120"/>
            <a:ext cx="4572000" cy="1298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06824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</a:rPr>
              <a:t>OPTION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06824" y="2487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€15–22M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06824" y="3072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2029 Valuation Projection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2084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Rebuilt but still people-dependent.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3547872"/>
            <a:ext cx="4572000" cy="12984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06824" y="3639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</a:rPr>
              <a:t>OPTION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06824" y="3931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€35–45M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306824" y="45171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2029 Valuation Projection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</a:rPr>
              <a:t>Differentiated. Exit-ready.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608576"/>
            <a:ext cx="3474720" cy="347472"/>
          </a:xfrm>
          <a:prstGeom prst="rect">
            <a:avLst/>
          </a:prstGeom>
          <a:solidFill>
            <a:srgbClr val="E8EDF5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08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Current valuation: ~€12M  ·  Target: €40M  ·  Window: 3–4 years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F66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Three Futures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 /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2743200" cy="43159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7315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8056" y="10241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Lean &amp; Profitable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" y="1517904"/>
            <a:ext cx="248716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6093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Where you end up: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86537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 smaller, tighter business running on AI-automated back office. Liam owns something he fully understands and controls.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" y="32735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Conor builds the AI engine. Kathryn owns delivery. 1–2 junior staff run operations. Leadership overhead eliminated over 12–18 months.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Risk: 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91640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Reward: Certain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72968" y="621792"/>
            <a:ext cx="2743200" cy="43159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00984" y="7315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00984" y="10241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Rebuild the Team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00984" y="1517904"/>
            <a:ext cx="248716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00984" y="16093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Where you end up: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00984" y="186537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Return to previous headcount. Try to grow by adding people back into the same model that has been losing them.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00984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00984" y="32735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Like-for-like hires across departing roles. Same structure, same dependency on senior staff. Same churn risk.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00984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Risk: Medium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44568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Reward: Low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25896" y="621792"/>
            <a:ext cx="2743200" cy="43159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7315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</a:rPr>
              <a:t>OPTION 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53912" y="10241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AI-First Transformation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53912" y="1517904"/>
            <a:ext cx="2487168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16093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Where you end up: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186537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 differentiated consultancy with a proprietary AI product. Exit-ready at €35–45M within 3–4 years.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53912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53912" y="3273552"/>
            <a:ext cx="24871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Lean team + AI Hub + EI grant funding. Conor leads innovation. Kathryn owns delivery. Product generates scalable revenue alongside consulting.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53912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Risk: Higher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97496" y="4553712"/>
            <a:ext cx="117957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97496" y="455371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Reward: High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Option 1  —  Lean &amp; Profitable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The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Conor builds bespoke AI tools and automation to replace administrative overhead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Kathryn codifies the client delivery model — documented, repeatable, trainable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1–2 junior hires run back office and basic delivery support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Leadership layer made redundant over 12–18 months by design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Ciara transition completed via AI-automated coordinator model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No EI grant dependency — leaner path, lower risk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566928"/>
            <a:ext cx="4114800" cy="4343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731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What You 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8032" y="1143000"/>
            <a:ext cx="80467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43000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€500K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05856" y="121615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Annual profit (sustainable)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032" y="1856232"/>
            <a:ext cx="80467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856232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€5M+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05856" y="192938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10-year total return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2569464"/>
            <a:ext cx="80467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569464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05856" y="2642616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Owner control — Liam decides everything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8032" y="3282696"/>
            <a:ext cx="80467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282696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05856" y="335584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Execution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995928"/>
            <a:ext cx="80467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995928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€15–20M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05856" y="40690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2029 valuation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663440"/>
            <a:ext cx="411480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46634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Best for: Liam wants certainty, control, and a profitable exit without the growth journey.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Option 2  —  Rebuild the 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The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Actively recruit to replace departed roles like-for-like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Rebuild headcount toward previous structure within 6–12 months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Continue current operating model with refreshed team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New Head of Sales drives pipeline growth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Ciara replaced with new coordinator (standard hire)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No structural change to how the business generates value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566928"/>
            <a:ext cx="4114800" cy="4343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731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115568"/>
            <a:ext cx="3730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This option assumes the market for talent has changed. It hasn't.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We are rebuilding a people-dependent model in a market where people keep leaving. The churn dynamic that created the current situation will repeat.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More headcount means more cost before more revenue. Margin compresses. The window to differentiate narrows. We arrive at 2029 with a larger team, a similar valuation, and the same structural vulnerabilities.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Option 2 is the most likely path to a smaller company by default — not by design.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4663440"/>
            <a:ext cx="411480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46634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Verdict: Swimming against the current. High cost, low differentiation, same risk profile.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Option 3  —  AI-First Transformation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</a:rPr>
              <a:t>The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Lean core team: Conor (AI Hub), Kathryn (Delivery), new Coordinator, key contractors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EI grant funds the R&amp;D programme: ARIA, LUCE, Audit Assistant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Proprietary AI product stack creates scalable, recurring revenue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AI-automated back office reduces overhead — Adeline builds the agents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MyQMS.ai partnership and sector specialisation drive differentiation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Exit-ready business with defensible IP by 2028–2029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566928"/>
            <a:ext cx="4114800" cy="43434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731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</a:rPr>
              <a:t>What You 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28032" y="1143000"/>
            <a:ext cx="804672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43000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€35–45M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05856" y="121615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2029 valuation (exit-ready)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032" y="1856232"/>
            <a:ext cx="804672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856232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05856" y="192938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Revenue multiple vs current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2569464"/>
            <a:ext cx="804672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569464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05856" y="2642616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Proprietary product = defensible moat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8032" y="3282696"/>
            <a:ext cx="804672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282696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05856" y="335584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Lower headcount, higher margin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995928"/>
            <a:ext cx="804672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995928"/>
            <a:ext cx="804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05856" y="40690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Execution risk — requires conviction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4663440"/>
            <a:ext cx="4114800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46634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Best for: Liam is willing to take the harder road for a transformational outcome.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Each Option Is Worth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8 /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0" y="566928"/>
            <a:ext cx="192024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566928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Lean &amp; Profitable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37760" y="566928"/>
            <a:ext cx="192024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566928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Rebuild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0" y="566928"/>
            <a:ext cx="192024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566928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OPTION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AI-First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566928"/>
            <a:ext cx="242316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56692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1480" y="131673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3167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Annual 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13167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€400–600K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3167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€200–400K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13167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</a:rPr>
              <a:t>€800K–1.5M (at scale)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828800"/>
            <a:ext cx="8412480" cy="475488"/>
          </a:xfrm>
          <a:prstGeom prst="rect">
            <a:avLst/>
          </a:prstGeom>
          <a:solidFill>
            <a:srgbClr val="E8E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8288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10-Year Return (profit)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€5M+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€2–4M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</a:rPr>
              <a:t>€8–15M (+ exit)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340864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34086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2029 Valuation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23408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€15–20M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3408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€15–22M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234086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</a:rPr>
              <a:t>€35–45M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852928"/>
            <a:ext cx="8412480" cy="475488"/>
          </a:xfrm>
          <a:prstGeom prst="rect">
            <a:avLst/>
          </a:prstGeom>
          <a:solidFill>
            <a:srgbClr val="E8E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8529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Exit Potential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Moderate — strategic buyer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Low — no differentiation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2852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High — product + IP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364992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36499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Execution Risk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3364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Low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364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Medium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33649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Higher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3877056"/>
            <a:ext cx="8412480" cy="475488"/>
          </a:xfrm>
          <a:prstGeom prst="rect">
            <a:avLst/>
          </a:prstGeom>
          <a:solidFill>
            <a:srgbClr val="E8E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387705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Liam's Control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3877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Full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3877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Full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38770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Shared — board / investors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438912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38912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Time to Stability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26080" y="4389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12–18 months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37760" y="4389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5309"/>
                </a:solidFill>
              </a:rPr>
              <a:t>6–12 months (surface)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49440" y="43891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5F46"/>
                </a:solidFill>
              </a:rPr>
              <a:t>24–36 months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A3F66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9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We do not need a fully-formed plan today.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We need one thing: a direction.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633472" cy="324612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282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" y="2185416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 we agree on the problem?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" y="2898648"/>
            <a:ext cx="2340864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26664"/>
            <a:ext cx="23408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The valuation gap is real. The people situation is urgent. Option 2 is unlikely to close either. Are we aligned on this diagnosis?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633472" cy="324612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7282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65576" y="2185416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Which future do we want?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65576" y="2898648"/>
            <a:ext cx="2340864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3026664"/>
            <a:ext cx="23408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Option 1 is a genuine choice — profitable, controlled, certain. Option 3 is harder but the only path to a transformational outcome. Option 2 is neither.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600200"/>
            <a:ext cx="2633472" cy="3246120"/>
          </a:xfrm>
          <a:prstGeom prst="rect">
            <a:avLst/>
          </a:prstGeom>
          <a:solidFill>
            <a:srgbClr val="2A3F66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72821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2A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81928" y="2185416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is our first commitment?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2898648"/>
            <a:ext cx="2340864" cy="228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3026664"/>
            <a:ext cx="23408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Whichever direction we choose, we leave this room with one concrete action agreed, owned, and on a deadline.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FA5"/>
                </a:solidFill>
              </a:rPr>
              <a:t>Prepared by: Conor Flynn, Head of Innovation  ·  May 2026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1241</Words>
  <Application>Microsoft Macintosh PowerPoint</Application>
  <PresentationFormat>On-screen Show (16:9)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Conor Flynn</cp:lastModifiedBy>
  <cp:revision>2</cp:revision>
  <dcterms:created xsi:type="dcterms:W3CDTF">2026-05-28T07:12:26Z</dcterms:created>
  <dcterms:modified xsi:type="dcterms:W3CDTF">2026-05-28T14:25:00Z</dcterms:modified>
</cp:coreProperties>
</file>