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C886AD-9A9B-414E-B627-B0DA0C3DC9D5}">
  <a:tblStyle styleId="{B5C886AD-9A9B-414E-B627-B0DA0C3DC9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3566160"/>
            <a:ext cx="8686800" cy="157734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143000"/>
            <a:ext cx="7772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Investment Case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2026 and Beyond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Presented by Conor Flynn, Head of Innovation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May 2026  |  Confidential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We're Covering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74320" y="960120"/>
            <a:ext cx="8595360" cy="49377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74320" y="960120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960120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60" y="99669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What the AI Hub has already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" y="12161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Brand, pipeline, active projects, market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74320" y="1517904"/>
            <a:ext cx="85953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74320" y="1517904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4320" y="1517904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15544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commercial proof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1773936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€1.1M in contracts from AI-generated leads this year alone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74320" y="2075688"/>
            <a:ext cx="8595360" cy="49377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74320" y="2075688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74320" y="2075688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" y="211226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transition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22960" y="2331720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Ciara's departure — gap, risk, and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4320" y="2633472"/>
            <a:ext cx="85953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74320" y="2633472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74320" y="2633472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22960" y="26700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new team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22960" y="2889504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we scale intelligently rather than replace like-for-like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74320" y="3191256"/>
            <a:ext cx="8595360" cy="49377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74320" y="3191256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74320" y="319125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22960" y="32278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EI Grant opportunity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22960" y="3447288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€2.1M programme, majority government-funded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3749040"/>
            <a:ext cx="85953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74320" y="3749040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74320" y="3749040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22960" y="378561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numbers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22960" y="400507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4-year financial model across two scenarios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74320" y="4306824"/>
            <a:ext cx="8595360" cy="49377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274320" y="4306824"/>
            <a:ext cx="457200" cy="4937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74320" y="4306824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22960" y="43434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What we're asking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22960" y="4562856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Specific decisions needed from leadership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AI Hub Has Built in 12 Months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960120"/>
            <a:ext cx="2057400" cy="38404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74320" y="960120"/>
            <a:ext cx="20574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74320" y="9601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Presence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65760" y="1463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Monthly webinars &amp; podcasts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212140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Industry commentary &amp; thought leadership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2779776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Speaking at Life Science conferences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3438144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Recognised AI voice in pharma/MedTech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514600" y="960120"/>
            <a:ext cx="2057400" cy="38404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514600" y="960120"/>
            <a:ext cx="20574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514600" y="9601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606040" y="1463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Project ARIA — multi-agent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606040" y="212140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Project LUCE — complaints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606040" y="2779776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Audit Assistant — GxP-ready POC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606040" y="3438144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Box Knowledge Map initiative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754880" y="960120"/>
            <a:ext cx="2057400" cy="38404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754880" y="960120"/>
            <a:ext cx="20574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754880" y="9601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Frameworks &amp;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846320" y="1463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I.N.S.P.I.R.E. delivery 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46320" y="212140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Crawl/Walk/Run readiness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46320" y="2779776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StageGate &amp; Kill Switch governance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46320" y="3438144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Vendor Evaluation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995160" y="960120"/>
            <a:ext cx="2057400" cy="38404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995160" y="960120"/>
            <a:ext cx="20574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995160" y="9601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Ecosystem 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086600" y="1463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Insight Centre (Galway) — academic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86600" y="212140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MyQMS.ai, Medevo, Ketrix — commercial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086600" y="2779776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Ash — vision detection partnership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086600" y="3438144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EI RD&amp;I grant application submitted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3152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Commercial Proof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31520" y="731520"/>
            <a:ext cx="5029200" cy="256032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31520" y="77724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€1.1M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signed contracts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January – May 2026  |  Directly from AI Hub-generated leads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035040" y="731520"/>
            <a:ext cx="2834640" cy="7772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035040" y="7772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€179k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035040" y="7772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€179k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086600" y="82296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Hub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035040" y="1645920"/>
            <a:ext cx="2834640" cy="7772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035040" y="16916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&gt;6x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035040" y="16916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&gt;6x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086600" y="173736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Return already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delivered in 5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035040" y="2560320"/>
            <a:ext cx="2834640" cy="7772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035040" y="26060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035040" y="26060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086600" y="265176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Additional marketing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spend to generate this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1520" y="3520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revenue came from thought leadership, webinars, and market positioning — not from a dedicated sales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AI Hub is already Trinzo's most productive pipeline engine.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Transition: Challenge and Opportunity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74320" y="960120"/>
            <a:ext cx="3977640" cy="388620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274320" y="960120"/>
            <a:ext cx="39776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274320" y="96012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Lose When Ciara Leaves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11480" y="146304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Project governance (StageGate, Kill Switches, capacity heatmap)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11480" y="196596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Stakeholder matrix management &amp; RAG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11480" y="246888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EI grant compliance trail &amp; activity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11480" y="297180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Marketing execution — content distribution &amp; campaigns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11480" y="347472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Intake funnel — turning market signals into backlog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11480" y="397764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Vendor pipeline management (MyQMS.ai, Medevo, Ash…)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0" y="960120"/>
            <a:ext cx="4297680" cy="388620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Opportunity: Build It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146304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Automate the repeatable — AI agents for scheduling, reporting &amp;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09160" y="196596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Hire one focused coordinator (governance + grant + contractors)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09160" y="246888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Protect Conor's time for strategy &amp; client relationships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09160" y="297180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 a scalable contractor bench for technical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709160" y="347472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 single-person dependency permanently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709160" y="397764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Adeline's dev skills to build the automation layer 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New Operating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74320" y="822960"/>
            <a:ext cx="15544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74320" y="822960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DIRECTION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920240" y="89611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Conor Flynn — Head of Innovation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920240" y="1225296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Market sensing · Thought leadership · Ecosystem building · Key stakeholder relationships · Strategic decisions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4320" y="1709928"/>
            <a:ext cx="859536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74320" y="1709928"/>
            <a:ext cx="1554480" cy="868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74320" y="1709928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COORDINATION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920240" y="178308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Project Delivery Coordinator  (new hire)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920240" y="2112264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governance · EI grant compliance · Contractor management · AI agent oversight · Intake funnel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74320" y="2596896"/>
            <a:ext cx="8595360" cy="86868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274320" y="2596896"/>
            <a:ext cx="1554480" cy="868680"/>
          </a:xfrm>
          <a:prstGeom prst="rect">
            <a:avLst/>
          </a:prstGeom>
          <a:solidFill>
            <a:srgbClr val="0A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74320" y="2596896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920240" y="267004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Internal AI Agents  (built by Adeline)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920240" y="299923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Admin &amp; scheduling · Content drafting &amp; distribution · Status reporting &amp; analytics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74320" y="3483864"/>
            <a:ext cx="8595360" cy="868680"/>
          </a:xfrm>
          <a:prstGeom prst="rect">
            <a:avLst/>
          </a:prstGeom>
          <a:solidFill>
            <a:srgbClr val="2C528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74320" y="3483864"/>
            <a:ext cx="1554480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274320" y="3483864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DELIVERY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920240" y="3557016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Contractor Bench  (3–5 part-time specialists)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920240" y="3886200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AI/ML Engineer · Knowledge Graph Specialist · Integration Developer · Regulatory SME · Content Specialist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20040" y="440740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Net incremental cost vs current model: ~€15–25k/year — the coordinator replaces Ciara at only a modest premium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Cost Picture: Less Than It Looks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74320" y="914400"/>
            <a:ext cx="2743200" cy="301752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Annual Hub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20040" y="1371600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84048" y="137160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Conor Flynn (2/3 allocation)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975104" y="1371600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€101,490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0040" y="1883664"/>
            <a:ext cx="2651760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384048" y="1883664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Ciara Griffin (all-in)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975104" y="1883664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€50,200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20040" y="2395728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84048" y="2395728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Colm (50% allocation)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975104" y="2395728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€15,000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20040" y="2907792"/>
            <a:ext cx="2651760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84048" y="2907792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Discretionary budget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975104" y="2907792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€12,000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20040" y="3419856"/>
            <a:ext cx="265176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84048" y="3419856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975104" y="3419856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€178,690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200400" y="914400"/>
            <a:ext cx="2743200" cy="301752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Model — Base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246120" y="1371600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310128" y="137160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Conor Flynn (2/3 allocation)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901184" y="1371600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€101,490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246120" y="1883664"/>
            <a:ext cx="2651760" cy="43891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310128" y="1883664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Coordinator (all-in)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901184" y="1883664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€65,000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246120" y="2395728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310128" y="2395728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Colm (50% allocation)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901184" y="2395728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€15,000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246120" y="2907792"/>
            <a:ext cx="2651760" cy="43891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310128" y="2907792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Discretionary + Adeline (Yr1)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01184" y="2907792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€30,000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246120" y="3419856"/>
            <a:ext cx="2651760" cy="438912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310128" y="3419856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(Yr 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01184" y="3419856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€211,490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126480" y="914400"/>
            <a:ext cx="2743200" cy="30175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EI Grant (Net, per year)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72200" y="1371600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236208" y="137160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Base model costs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827264" y="1371600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€193,490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172200" y="1883664"/>
            <a:ext cx="2651760" cy="43891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236208" y="1883664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Contractor bench (gross)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827264" y="1883664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€295,000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172200" y="2395728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236208" y="2395728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EI grant returns (65%)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827264" y="2395728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(€191,750)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172200" y="2907792"/>
            <a:ext cx="2651760" cy="43891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236208" y="2907792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R&amp;D tax credits (~32.5%)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827264" y="2907792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(€69,000)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172200" y="3419856"/>
            <a:ext cx="2651760" cy="438912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236208" y="3419856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TRINZO INVESTMENT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827264" y="3419856"/>
            <a:ext cx="9052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~€228,000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74320" y="40690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Government returns (EI grant + R&amp;D tax credits) mean the effective Trinzo investment in the full RD&amp;I programme is significantly below the headline contractor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731520" y="182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Enterprise Ireland RD&amp;I Grant Opportunity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" y="777240"/>
            <a:ext cx="2560320" cy="14630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31520" y="88696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€2.1M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31520" y="1625803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programme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value over 4 years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520440" y="777240"/>
            <a:ext cx="2560320" cy="14630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520440" y="88696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520440" y="1625803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Government-funded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(grant + tax credits)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520440" y="1976933"/>
            <a:ext cx="2560320" cy="234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Net Trinzo cost: ~€735k over 4 yrs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309360" y="777240"/>
            <a:ext cx="2560320" cy="14630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309360" y="88696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30–35%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309360" y="1625803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R&amp;D tax credit on 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project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309360" y="1976933"/>
            <a:ext cx="2560320" cy="234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Applies to current work too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Grant Enables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31520" y="2834640"/>
            <a:ext cx="2377440" cy="210312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731520" y="2834640"/>
            <a:ext cx="23774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731520" y="2834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 1 — GxP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41248" y="327355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Trustworthy reasoning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41248" y="368503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Immutable audit trail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41248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Life Science knowledge graph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41248" y="450799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Validation methodology for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246120" y="2834640"/>
            <a:ext cx="2377440" cy="210312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3246120" y="2834640"/>
            <a:ext cx="23774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246120" y="2834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 2 — Practical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355848" y="327355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Audit planning agent (MVP)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355848" y="368503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CAPA &amp; complaints workflows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355848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EQMS integration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355848" y="450799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Client-facing interfaces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760720" y="2834640"/>
            <a:ext cx="2377440" cy="210312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5760720" y="2834640"/>
            <a:ext cx="23774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5760720" y="2834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Commercial Outcome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870448" y="327355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Scalable AI product for Life Sciences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870448" y="368503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Deployable in EQMS environments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870448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New recurring revenue stream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870448" y="450799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EI-validated IP and credentials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Outlook: Two Scenarios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557784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6080760" y="960120"/>
            <a:ext cx="2788920" cy="1188720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080760" y="1069848"/>
            <a:ext cx="278892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€2.2M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080760" y="1649578"/>
            <a:ext cx="278892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AI-attr.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2026 (est. full year)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080760" y="2331720"/>
            <a:ext cx="27889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080760" y="2441448"/>
            <a:ext cx="278892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€5.6M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080760" y="3021178"/>
            <a:ext cx="278892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4-yr cumulative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A (No EI)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080760" y="3703320"/>
            <a:ext cx="2788920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6080760" y="3813048"/>
            <a:ext cx="278892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€8.9M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080760" y="4392778"/>
            <a:ext cx="278892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4-yr cumulative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B (EI Grant)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 shows stacked direct AI revenue + AI-attributable core business revenue by year and 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ROI: Net Investment vs Return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2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{B5C886AD-9A9B-414E-B627-B0DA0C3DC9D5}</a:tableStyleId>
              </a:tblPr>
              <a:tblGrid>
                <a:gridCol w="3108950"/>
                <a:gridCol w="1097275"/>
                <a:gridCol w="1097275"/>
                <a:gridCol w="1097275"/>
                <a:gridCol w="1097275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4-Yr Total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A — Net Hub Cost (after R&amp;D credits)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€178k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€168k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€168k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€168k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€682k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A — Total AI-Attr. Revenue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€2.2M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€3.0M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€4.3M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€5.9M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€15.4M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A — ROI Ratio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12.4x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25.6x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34.8x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22.5x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B — Net Hub Cost (after grant + credits)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€178k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€228k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€228k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€228k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€862k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B — Total AI-Attr. Revenue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€2.2M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€3.5M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€5.5M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€7.9M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€19.1M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B — ROI Ratio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C40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12.4x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C40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C40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C40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34.8x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C40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12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Even in the conservative no-grant scenario, the Hub returns 12–35x on net investment. The EI grant improves the absolute revenue position without materially changing the ROI ratio — it funds growth, not cost.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731520" y="182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The Risk of Under-Investing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31520" y="640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happens if we patch the gap cheaply and don't back the Hub properly?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31520" y="1234440"/>
            <a:ext cx="8229600" cy="658368"/>
          </a:xfrm>
          <a:prstGeom prst="rect">
            <a:avLst/>
          </a:prstGeom>
          <a:solidFill>
            <a:srgbClr val="28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731520" y="1234440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914400" y="1280160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dries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14400" y="153619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The €1.1M in contracts this year came from consistent thought leadership and market presence. Without the operational backbone to sustain that, lead flow slows within 2 quarters.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31520" y="1984248"/>
            <a:ext cx="8229600" cy="658368"/>
          </a:xfrm>
          <a:prstGeom prst="rect">
            <a:avLst/>
          </a:prstGeom>
          <a:solidFill>
            <a:srgbClr val="28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731520" y="198424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914400" y="2029968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delivery stalls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914400" y="2286000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ARIA, LUCE, and the Audit Assistant have no governance owner. Without a coordinator, projects slip, the intake funnel stops, and client commitments become harder to meet.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731520" y="2734056"/>
            <a:ext cx="8229600" cy="658368"/>
          </a:xfrm>
          <a:prstGeom prst="rect">
            <a:avLst/>
          </a:prstGeom>
          <a:solidFill>
            <a:srgbClr val="28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731520" y="273405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914400" y="2779776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 grant is left on the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914400" y="3035808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If awarded and we can't resource the programme, we forfeit up to €1.47M in government returns. The grant requires an immediate, capable team to activate.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31520" y="3483864"/>
            <a:ext cx="8229600" cy="658368"/>
          </a:xfrm>
          <a:prstGeom prst="rect">
            <a:avLst/>
          </a:prstGeom>
          <a:solidFill>
            <a:srgbClr val="28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731520" y="3483864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914400" y="3529584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position erodes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914400" y="378561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Competitors are moving fast in AI for Life Sciences. A 6-month pause in content, webinars, and market activity hands ground to others. This market rewards consistency.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31520" y="4233672"/>
            <a:ext cx="8229600" cy="658368"/>
          </a:xfrm>
          <a:prstGeom prst="rect">
            <a:avLst/>
          </a:prstGeom>
          <a:solidFill>
            <a:srgbClr val="28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731520" y="4233672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914400" y="4279392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Conor becomes the bottleneck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914400" y="4535424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BB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BBBB"/>
                </a:solidFill>
                <a:latin typeface="Calibri"/>
                <a:ea typeface="Calibri"/>
                <a:cs typeface="Calibri"/>
                <a:sym typeface="Calibri"/>
              </a:rPr>
              <a:t>Without a coordinator, everything flows through one person. Strategic velocity drops. The market work that generates pipeline gets crowded out by operational fire-fighting.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We're Asking Leadership to Approve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320040" y="105156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005840" y="978408"/>
            <a:ext cx="1371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1005840" y="978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2514600" y="960120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Approve the AI Project Delivery Coordinator hire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005840" y="128016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Salary €50–60k. Start date within 4–6 weeks to ensure overlap with Ciara. JD is ready to post today. This is the most time-sensitive decision — the 6-week clock is running.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20040" y="205740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32004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005840" y="1984248"/>
            <a:ext cx="1371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1005840" y="19842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514600" y="1965960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Approve Adeline's automation engagement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005840" y="228600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Short-term contract to map current workflows and build 3 internal AI agents (Admin/Scheduling, Content/Marketing, Reporting). Estimated cost €15–20k. Scope to begin Week 1.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320040" y="30632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320040" y="3063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005840" y="2990088"/>
            <a:ext cx="1371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005840" y="29900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GRANT AWARD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2514600" y="2971800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Confirm EI grant matching commitment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005840" y="329184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 grant award, confirm Trinzo's commitment to the matching funding/time required. Net Trinzo cost after returns: ~€160–210k/year. JDs for contractor bench are ready to activate.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320040" y="406908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320040" y="4069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005840" y="3995928"/>
            <a:ext cx="1371600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1005840" y="399592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2514600" y="3977640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Establish AI Hub quarterly business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005840" y="4297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Agree a standing quarterly cadence: KPIs reviewed, funding confirmed, strategic direction set. Moves the Hub from reactive budget requests to a properly governed growth investment.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731520" y="5486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Summary in Three Lines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731520" y="1188720"/>
            <a:ext cx="8046720" cy="10058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49808" y="143560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49808" y="1435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325880" y="13258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AI Hub already delivers 6x+ return on investment — €1.1M in contracts from a €179k annual spend.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31520" y="2377440"/>
            <a:ext cx="8046720" cy="10058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749808" y="262432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749808" y="2624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325880" y="25146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new model costs only ~€15–25k more per year in base terms, and delivers a scalable, resilient function rather than a single-person dependency.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31520" y="3566160"/>
            <a:ext cx="8046720" cy="1005840"/>
          </a:xfrm>
          <a:prstGeom prst="rect">
            <a:avLst/>
          </a:prstGeom>
          <a:solidFill>
            <a:srgbClr val="1623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7498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325880" y="37033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EI grant, if activated, is 65% government-funded and turns the Hub from a consultancy team into a commercial AI product business.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3152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Conor Flynn  |  conorflynn@trinzo.com  |  Trinzo AI &amp; Innovation 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68580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Trinzo AI &amp; Innovation Hub  |  Confidential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8686800" y="484632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