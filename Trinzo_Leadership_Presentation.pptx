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84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68580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TRINZO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14173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Where We Are &amp; Where We Go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084832"/>
            <a:ext cx="3474720" cy="4572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02920" y="2231136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A4D4"/>
                </a:solidFill>
                <a:latin typeface="Calibri"/>
                <a:ea typeface="Calibri"/>
                <a:cs typeface="Calibri"/>
                <a:sym typeface="Calibri"/>
              </a:rPr>
              <a:t>Leadership Working Session  ·  May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3108960"/>
            <a:ext cx="2468880" cy="685800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3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12648" y="3163824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12648" y="3456432"/>
            <a:ext cx="164592" cy="16459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32104" y="34290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46120" y="3108960"/>
            <a:ext cx="2468880" cy="685800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3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355848" y="3163824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355848" y="3456432"/>
            <a:ext cx="164592" cy="16459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575304" y="34290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989320" y="3108960"/>
            <a:ext cx="2468880" cy="685800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3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099048" y="3163824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099048" y="3456432"/>
            <a:ext cx="164592" cy="164592"/>
          </a:xfrm>
          <a:prstGeom prst="ellipse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318504" y="342900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20" y="47731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Today's Session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658368"/>
            <a:ext cx="1920240" cy="4251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11480" y="658368"/>
            <a:ext cx="1920240" cy="6400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" y="84124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6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143560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Numbers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5800" y="1819656"/>
            <a:ext cx="1371600" cy="2743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21208" y="1920240"/>
            <a:ext cx="1700784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Revenue, valuation, and the gap between where we are and where we need to be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514600" y="658368"/>
            <a:ext cx="1920240" cy="4251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514600" y="658368"/>
            <a:ext cx="1920240" cy="6400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06040" y="84124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6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06040" y="143560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788920" y="1819656"/>
            <a:ext cx="1371600" cy="2743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624328" y="1920240"/>
            <a:ext cx="1700784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Who we have, what's billable, who's at risk — the honest picture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617720" y="658368"/>
            <a:ext cx="1920240" cy="4251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617720" y="658368"/>
            <a:ext cx="1920240" cy="6400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709160" y="84124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6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09160" y="143560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Paths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92040" y="1819656"/>
            <a:ext cx="1371600" cy="2743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27448" y="1920240"/>
            <a:ext cx="1700784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Each option mapped by roles, KPI impact, and 2029 exit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720840" y="658368"/>
            <a:ext cx="1920240" cy="4251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720840" y="658368"/>
            <a:ext cx="1920240" cy="6400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812280" y="84124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3A6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812280" y="143560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Decision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995160" y="1819656"/>
            <a:ext cx="1371600" cy="2743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E8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830568" y="1920240"/>
            <a:ext cx="1700784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What we align on today — not a full plan, but a clear direction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is a working session — come with views, not just questions.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Valuation Gap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11480" y="621792"/>
            <a:ext cx="2423160" cy="1188720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02920" y="758952"/>
            <a:ext cx="224028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€6.5M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02920" y="1358798"/>
            <a:ext cx="2240280" cy="404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2026 Revenue Forecast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11480" y="1947672"/>
            <a:ext cx="2423160" cy="1188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02920" y="2084832"/>
            <a:ext cx="224028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~€12M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2684678"/>
            <a:ext cx="2240280" cy="404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 Company Valuation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3273552"/>
            <a:ext cx="2423160" cy="118872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02920" y="3410712"/>
            <a:ext cx="224028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€40M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2920" y="4010558"/>
            <a:ext cx="2240280" cy="404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Target Exit Valuation (3–4 yrs)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0" y="621792"/>
            <a:ext cx="5577840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We Stand: Three KPIs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11480" y="621792"/>
            <a:ext cx="265176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11480" y="621792"/>
            <a:ext cx="2651760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39496" y="66751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AMBER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39496" y="102412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39496" y="1371600"/>
            <a:ext cx="2395728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Revenue tracking to €6.5M year-end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Margin ahead of target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Head of Sales joins next 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Risk: arrives with no onboarding, no content, no sales ops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Risk: Kate is the only internal sales support remaining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246120" y="621792"/>
            <a:ext cx="265176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246120" y="621792"/>
            <a:ext cx="2651760" cy="34747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374136" y="66751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374136" y="102412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374136" y="1371600"/>
            <a:ext cx="2395728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Lost 7+ team members in 12 months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Only 40% of FTEs are billable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50%+ of remaining team at flight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Only Liam fully stable; Conor &amp; Kathryn next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senior leadership in Finance or Margin Improvement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080760" y="621792"/>
            <a:ext cx="265176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080760" y="621792"/>
            <a:ext cx="2651760" cy="34747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208776" y="66751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UNCLEAR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208776" y="1024128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08776" y="1371600"/>
            <a:ext cx="2395728" cy="3410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Clients enthusiastic about AI — but engaging for free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Delivery keeping clients happy; extensions increasing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Extensions not invoiced — effort going unpaid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shared definition of what 'delight' means commercially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frustrated; delivery not incentivised to convert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Team: The Real Picture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11480" y="621792"/>
            <a:ext cx="1920240" cy="74980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7548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548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FTEs (incl. incoming HoS)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514600" y="621792"/>
            <a:ext cx="1920240" cy="74980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57860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 /  40%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57860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Currently Billable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17720" y="621792"/>
            <a:ext cx="1920240" cy="74980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68172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50%+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68172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At Flight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621792"/>
            <a:ext cx="1920240" cy="74980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78484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78484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Active Contractors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11480" y="1490472"/>
            <a:ext cx="155448" cy="15544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3093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Billable — stable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514600" y="1490472"/>
            <a:ext cx="155448" cy="1554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73405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Billable — flight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17720" y="1490472"/>
            <a:ext cx="155448" cy="15544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83717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Non-billable — flight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720840" y="1490472"/>
            <a:ext cx="155448" cy="155448"/>
          </a:xfrm>
          <a:prstGeom prst="rect">
            <a:avLst/>
          </a:prstGeom>
          <a:solidFill>
            <a:srgbClr val="2D5AA0"/>
          </a:solidFill>
          <a:ln cap="flat" cmpd="sng" w="12700">
            <a:solidFill>
              <a:srgbClr val="2D5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94029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/ joining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17922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BILLABLE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11480" y="2011680"/>
            <a:ext cx="1572768" cy="457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75488" y="20482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75488" y="22585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11480" y="2523744"/>
            <a:ext cx="1572768" cy="457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75488" y="25603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5488" y="2770632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of Innovation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11480" y="3035808"/>
            <a:ext cx="1572768" cy="457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75488" y="3072384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Kathryn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5488" y="3282696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084832" y="2011680"/>
            <a:ext cx="1572768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148840" y="20482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Jacqui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148840" y="22585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084832" y="2523744"/>
            <a:ext cx="1572768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2148840" y="25603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Marissa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148840" y="2770632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084832" y="3035808"/>
            <a:ext cx="1572768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148840" y="3072384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148840" y="3282696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Margin Improvement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886200" y="17922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RECENTLY DEPARTED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886200" y="2011680"/>
            <a:ext cx="1572768" cy="4572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950208" y="2029968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Sales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50208" y="2258568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886200" y="2523744"/>
            <a:ext cx="1572768" cy="4572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950208" y="254203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Finance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950208" y="2770632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86200" y="3035808"/>
            <a:ext cx="1572768" cy="4572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950208" y="3054096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MI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50208" y="328269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605272" y="2011680"/>
            <a:ext cx="1572768" cy="4572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669280" y="2029968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MI Assistant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669280" y="2258568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605272" y="2523744"/>
            <a:ext cx="1572768" cy="45720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669280" y="254203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Sales Ops (Ciara)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669280" y="2770632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leaving in 6 wks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11480" y="36210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NON-BILLABLE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11480" y="3840480"/>
            <a:ext cx="1572768" cy="457200"/>
          </a:xfrm>
          <a:prstGeom prst="rect">
            <a:avLst/>
          </a:prstGeom>
          <a:solidFill>
            <a:srgbClr val="2D5AA0"/>
          </a:solidFill>
          <a:ln cap="flat" cmpd="sng" w="12700">
            <a:solidFill>
              <a:srgbClr val="2D5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5488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HoS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5488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636776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700784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700784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862072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926080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Hannah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926080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087368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151376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151376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&amp; Ops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312664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376672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76672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537960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601968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Catriona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601968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763256" y="3840480"/>
            <a:ext cx="1572768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827264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 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827264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Paths Forward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11480" y="658368"/>
            <a:ext cx="2651760" cy="4251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11480" y="658368"/>
            <a:ext cx="2651760" cy="38404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39496" y="72237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39496" y="1106424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Stay the Course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39496" y="1508760"/>
            <a:ext cx="2395728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Continue with the current model. Manage the gaps from recent departures. No structural change to how Trinzo operates or goes to market. The safest-feeling option — but not the safest in reality.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46120" y="658368"/>
            <a:ext cx="2651760" cy="42519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246120" y="658368"/>
            <a:ext cx="2651760" cy="38404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374136" y="72237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374136" y="1106424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Hire Like for Like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374136" y="1508760"/>
            <a:ext cx="2395728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Rebuild departed roles with junior hires. More expensive than the staff who left. Less institutional knowledge. Multiple simultaneous onboardings into an already depleted team.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080760" y="658368"/>
            <a:ext cx="2651760" cy="425196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080760" y="658368"/>
            <a:ext cx="2651760" cy="38404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208776" y="72237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208776" y="1106424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Reposition (AI-First)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208776" y="1508760"/>
            <a:ext cx="2395728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the departures as a forcing function. Automate non-value-adding functions with AI. Shift FTE mix toward billable roles. Position Trinzo as the AI-first life science consultancy.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11480" y="48280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option carries different implications for roles, KPI trajectory, and exit valuation — explored on the following slides.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1 — Stay the Course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0" y="475488"/>
            <a:ext cx="45720" cy="466801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228600" y="56692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28600" y="8503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28600" y="1051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CEO — strategic and commercial lead, unchanged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28600" y="13716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HoS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286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Arrives next month. No onboarding plan, no content library, no ops support.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28600" y="189280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28600" y="20939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assistant — same limited role. Sole sales support.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28600" y="24140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Kathryn / Jacqui / Marissa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286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Delivery continues. Extensions unresolved commercially.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28600" y="29352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28600" y="31363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Sole MI person. No head above, no junior below. Exposed.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28600" y="34564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28600" y="3657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Two juniors, no senior direction or leadership.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228600" y="39776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Hannah / Emma / Amy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28600" y="4178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Unchanged. Non-billable support functions throughout.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26280" y="475488"/>
            <a:ext cx="2103120" cy="466801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645152" y="566928"/>
            <a:ext cx="1883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TRAJECTORY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645152" y="86868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645152" y="112471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AMBER → RED 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645152" y="139903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HoS unsupported; sales continuity fragile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645152" y="219456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645152" y="245059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RED → STAYS 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645152" y="272491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structural improvement; flight risk continues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645152" y="352044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645152" y="377647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UNCLEAR → STAYS UNCLEAR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645152" y="405079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Free/paid tension deepens; no commercial clarity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766560" y="475488"/>
            <a:ext cx="2057400" cy="466801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876288" y="566928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 EXIT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876288" y="8686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76288" y="10972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€9.5M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876288" y="15544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876288" y="17830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876288" y="22402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76288" y="24688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€950k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876288" y="29260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Val. Multiple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876288" y="31546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1.8x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876288" y="36118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Implied Val.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876288" y="38404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€18M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876288" y="4759452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50"/>
              <a:buFont typeface="Calibri"/>
              <a:buNone/>
            </a:pPr>
            <a:r>
              <a:rPr b="1" i="1" lang="en-US" sz="85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€22M short of target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2 — Hire Like for Like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0" y="475488"/>
            <a:ext cx="45720" cy="466801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228600" y="56692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28600" y="8503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28600" y="1051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CEO — unchanged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28600" y="13716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HoS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2286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Same unsupported setup as Option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28600" y="189280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Junior Sales 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28600" y="20939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hire. Higher cost than Ciara. 6–9 month ramp. No tribal knowledge.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28600" y="241401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Junior MI Support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2286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Added alongside Jack. Cost without senior capability.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228600" y="293522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Finance Junior (possible)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28600" y="31363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Three juniors, still no head. More cost, same direction problem.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28600" y="34564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others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28600" y="3657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Unchanged. Non-billable overhead persists.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28600" y="39776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Jacqui / Marissa / Kathryn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28600" y="41788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Delivery unchanged. Same commercial tension unresolved.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26280" y="475488"/>
            <a:ext cx="2103120" cy="466801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645152" y="566928"/>
            <a:ext cx="1883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KPI TRAJECTORY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645152" y="86868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645152" y="112471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AMBER → RED → AMBER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645152" y="139903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Three parallel onboardings; recovers only by month 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645152" y="219456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645152" y="245059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RED → REDDER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45152" y="272491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More hires, less knowledge; management overhead increases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645152" y="352044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645152" y="3776472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UNCLEAR → UNCHANGED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645152" y="4050792"/>
            <a:ext cx="18836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commercial model change whatsoever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766560" y="475488"/>
            <a:ext cx="2057400" cy="466801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876288" y="566928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 EXIT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876288" y="8686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76288" y="10972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€9.8M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876288" y="15544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876288" y="17830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876288" y="22402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876288" y="24688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€784k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876288" y="29260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Val. Multiple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876288" y="31546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6876288" y="3611880"/>
            <a:ext cx="1837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Implied Val.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876288" y="3840480"/>
            <a:ext cx="1837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€14.7M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876288" y="4759452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850"/>
              <a:buFont typeface="Calibri"/>
              <a:buNone/>
            </a:pPr>
            <a:r>
              <a:rPr b="1" i="1" lang="en-US" sz="85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Most expensive path. Worst outcome.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3 — Reposition (AI-First)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0" y="475488"/>
            <a:ext cx="45720" cy="4668012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228600" y="566928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ROLE TRANSFORMATION — EVERY PERSON HAS A FUTURE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28600" y="859536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709928" y="859536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Client relationships + company sale process. Real-time visibility via AI — no manual reports needed.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28600" y="1234440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709928" y="1234440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Hub lead + internal transformation. His work becomes the proof of concept Trinzo sells.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228600" y="1609344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709928" y="160934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Technical build → billable client delivery. Automation for clients. No longer overhead.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28600" y="1984248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HoS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709928" y="1984248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Arrives to AI-powered ops: content engine, CRM, pipeline visibility, proposals — ready from day one.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28600" y="2359152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709928" y="235915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assistant → Client Success hybrid. More client-facing, less admin. AI handles the admin layer.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28600" y="2734056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Kathryn / Jacqui / Marissa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709928" y="2734056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Delivery + commercial accountability. Extensions flagged and invoiced. Value captured.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28600" y="3108960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709928" y="3108960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Billable MI consultant. MI becomes a client-facing AI-backed service line. Has a future.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228600" y="3483864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Hannah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709928" y="3483864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Retention lead. Most important role for next 12 months given 50%+ flight risk.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28600" y="3858768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709928" y="3858768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tools admin → Operations consulting. From cost centre to future value.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228600" y="4233672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709928" y="423367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Screening automated → Contractor relationship manager. Strategic value to delivery engine.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28600" y="4608576"/>
            <a:ext cx="1463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709928" y="4608576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 junior + fractional CFO + AI tooling. Right-sized, directed, analytical.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919472" y="475488"/>
            <a:ext cx="1847088" cy="4668012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5029200" y="566928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KPI TARGETS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029200" y="859536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029200" y="1088136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 GREEN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029200" y="1316736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ops gives HoS a strong start from week 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029200" y="1847088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029200" y="2075688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 AMBER → GREEN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029200" y="2304288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Retention programme + compelling vision to stay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029200" y="2834640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029200" y="3063240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SPLIT → 2 KPIs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029200" y="3291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Satisfaction and Commercialisation tracked separately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029200" y="382219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NEW KPIs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029200" y="4050792"/>
            <a:ext cx="1627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Added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029200" y="4279392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Free→paid %, billable FTE ratio, extension invoice 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876288" y="475488"/>
            <a:ext cx="1947672" cy="4668012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976872" y="566928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 EXIT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976872" y="859536"/>
            <a:ext cx="1728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976872" y="1069848"/>
            <a:ext cx="17282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€18M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976872" y="1572768"/>
            <a:ext cx="1728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976872" y="1783080"/>
            <a:ext cx="17282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976872" y="2286000"/>
            <a:ext cx="1728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EBITDA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976872" y="2496312"/>
            <a:ext cx="17282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€3.4M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976872" y="2999232"/>
            <a:ext cx="1728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Val. Multiple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976872" y="3209544"/>
            <a:ext cx="17282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2.5x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976872" y="3712464"/>
            <a:ext cx="1728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Implied Val.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976872" y="3922776"/>
            <a:ext cx="17282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€40M 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976872" y="4773168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Hits the target.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 Exit Comparison: Option by Option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621792"/>
            <a:ext cx="521208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5806440" y="621792"/>
            <a:ext cx="795528" cy="347472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5843016" y="621792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601968" y="621792"/>
            <a:ext cx="795528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6638544" y="621792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7397496" y="621792"/>
            <a:ext cx="795528" cy="347472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7434072" y="621792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Option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8193024" y="621792"/>
            <a:ext cx="795528" cy="347472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8229600" y="621792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Option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5806440" y="987552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833872" y="987552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601968" y="987552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629400" y="987552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€9.5M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7397496" y="987552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7424928" y="987552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€9.8M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8193024" y="987552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8220456" y="987552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€18M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806440" y="1664208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5833872" y="1664208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EBITDA 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6601968" y="1664208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6629400" y="1664208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7397496" y="1664208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7424928" y="1664208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8193024" y="1664208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8220456" y="1664208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806440" y="2340864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833872" y="2340864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EBITDA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601968" y="2340864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629400" y="2340864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€950k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7397496" y="2340864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7424928" y="2340864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€784k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193024" y="2340864"/>
            <a:ext cx="795528" cy="676656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220456" y="2340864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€3.4M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5806440" y="3017520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833872" y="3017520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6601968" y="3017520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629400" y="3017520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1.8x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7397496" y="3017520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7424928" y="3017520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1.5x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8193024" y="3017520"/>
            <a:ext cx="795528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8220456" y="3017520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2.5x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806440" y="3694176"/>
            <a:ext cx="795528" cy="676656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5833872" y="3694176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601968" y="3694176"/>
            <a:ext cx="795528" cy="676656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6629400" y="3694176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€18M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7397496" y="3694176"/>
            <a:ext cx="795528" cy="676656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7424928" y="3694176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€14.7M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8193024" y="3694176"/>
            <a:ext cx="795528" cy="676656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8220456" y="3694176"/>
            <a:ext cx="7406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€40M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 Each Option: The Four Value Drivers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65760" y="566928"/>
            <a:ext cx="3566160" cy="347472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457200" y="56692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Value 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4041648" y="566928"/>
            <a:ext cx="1572768" cy="34747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4096512" y="56692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705856" y="566928"/>
            <a:ext cx="1572768" cy="34747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760720" y="56692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7370064" y="566928"/>
            <a:ext cx="1572768" cy="347472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7424928" y="56692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65760" y="932688"/>
            <a:ext cx="3566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457200" y="987552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EBITDA /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457200" y="124358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Can we hit the EBITDA profile that justifies €40M?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4041648" y="93268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4169664" y="1051560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4425696" y="101498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Modest growth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705856" y="93268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833872" y="1051560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089904" y="101498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Margin compressed by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370064" y="93268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7498080" y="105156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7754112" y="101498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doubles; margin improves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365760" y="1801368"/>
            <a:ext cx="3566160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57200" y="1856232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57200" y="211226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Does our positioning command a premium multiple?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041648" y="180136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4169664" y="1920240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4425696" y="188366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Holds; fades without investment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5705856" y="180136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5833872" y="1920240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6089904" y="188366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change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7370064" y="180136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7498080" y="192024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7754112" y="188366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AI-first premium grows over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365760" y="2670048"/>
            <a:ext cx="356616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457200" y="2724912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57200" y="298094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 we have people an acquirer would value and retain?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041648" y="267004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169664" y="2788920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4425696" y="275234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Stays red; no 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705856" y="267004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5833872" y="2788920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6089904" y="275234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Gets worse short-term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7370064" y="2670048"/>
            <a:ext cx="157276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7498080" y="2788920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7754112" y="275234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Retention plan + billable shift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365760" y="3538728"/>
            <a:ext cx="3566160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457200" y="3593592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457200" y="3849624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Is our model lean, scalable, and attractive to a buyer?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041648" y="353872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4169664" y="3657600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4425696" y="362102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Heavy; an acquirer liability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5705856" y="353872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5833872" y="3657600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6089904" y="362102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Heavier with more hires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7370064" y="3538728"/>
            <a:ext cx="1572768" cy="82296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7498080" y="365760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7754112" y="3621024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Automated; becomes a proof point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365760" y="4407408"/>
            <a:ext cx="3566160" cy="438912"/>
          </a:xfrm>
          <a:prstGeom prst="rect">
            <a:avLst/>
          </a:prstGeom>
          <a:solidFill>
            <a:srgbClr val="1F3A6E"/>
          </a:solidFill>
          <a:ln cap="flat" cmpd="sng" w="12700">
            <a:solidFill>
              <a:srgbClr val="1F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457200" y="4407408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2029 Implied 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041648" y="4407408"/>
            <a:ext cx="1572768" cy="43891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4096512" y="440740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€18M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5705856" y="4407408"/>
            <a:ext cx="1572768" cy="43891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5760720" y="440740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€14.7M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7370064" y="4407408"/>
            <a:ext cx="1572768" cy="438912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7424928" y="440740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€40M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849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502920" y="50292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Decide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02920" y="1170432"/>
            <a:ext cx="3474720" cy="45720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502920" y="1325880"/>
            <a:ext cx="8275320" cy="1024128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502920" y="1325880"/>
            <a:ext cx="457200" cy="102412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502920" y="1325880"/>
            <a:ext cx="457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1042416" y="1417320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we agree on the problem?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1042416" y="178308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Can we align on where we stand — people, KPIs, the valuation gap — before we discuss which direction to take?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502920" y="2441448"/>
            <a:ext cx="8275320" cy="1024128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502920" y="2441448"/>
            <a:ext cx="457200" cy="102412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502920" y="2441448"/>
            <a:ext cx="457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1042416" y="2532888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path fits our reality?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1042416" y="289864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Considering our team, our clients, and our risk appetite — which option can we actually commit to and execute?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502920" y="3557016"/>
            <a:ext cx="8275320" cy="1024128"/>
          </a:xfrm>
          <a:prstGeom prst="rect">
            <a:avLst/>
          </a:prstGeom>
          <a:solidFill>
            <a:srgbClr val="2A3F66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502920" y="3557016"/>
            <a:ext cx="457200" cy="1024128"/>
          </a:xfrm>
          <a:prstGeom prst="rect">
            <a:avLst/>
          </a:prstGeom>
          <a:solidFill>
            <a:srgbClr val="E07B2A"/>
          </a:solidFill>
          <a:ln cap="flat" cmpd="sng" w="12700">
            <a:solidFill>
              <a:srgbClr val="E0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502920" y="3557016"/>
            <a:ext cx="457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1042416" y="3648456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our first commitment?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1042416" y="4014216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If we leave aligned on direction, what is the one concrete action we agree on in the next 30 days?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02920" y="4809744"/>
            <a:ext cx="8275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4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4D4"/>
                </a:solidFill>
                <a:latin typeface="Calibri"/>
                <a:ea typeface="Calibri"/>
                <a:cs typeface="Calibri"/>
                <a:sym typeface="Calibri"/>
              </a:rPr>
              <a:t>We don't need a fully-formed plan today. We need direction.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